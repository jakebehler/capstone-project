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sldIdLst>
    <p:sldId id="256" r:id="rId2"/>
    <p:sldId id="261" r:id="rId3"/>
    <p:sldId id="258" r:id="rId4"/>
    <p:sldId id="257"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76"/>
  </p:normalViewPr>
  <p:slideViewPr>
    <p:cSldViewPr snapToGrid="0">
      <p:cViewPr>
        <p:scale>
          <a:sx n="118" d="100"/>
          <a:sy n="118" d="100"/>
        </p:scale>
        <p:origin x="384"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104302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515144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2714414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C2A7E-18F2-3548-9318-AAB55E99CD63}" type="datetimeFigureOut">
              <a:rPr lang="en-US" smtClean="0"/>
              <a:t>4/25/25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4111617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C2A7E-18F2-3548-9318-AAB55E99CD63}" type="datetimeFigureOut">
              <a:rPr lang="en-US" smtClean="0"/>
              <a:t>4/25/25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1181072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C2A7E-18F2-3548-9318-AAB55E99CD63}" type="datetimeFigureOut">
              <a:rPr lang="en-US" smtClean="0"/>
              <a:t>4/25/25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2422438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C2A7E-18F2-3548-9318-AAB55E99CD63}" type="datetimeFigureOut">
              <a:rPr lang="en-US" smtClean="0"/>
              <a:t>4/25/25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3451618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A4C2A7E-18F2-3548-9318-AAB55E99CD63}" type="datetimeFigureOut">
              <a:rPr lang="en-US" smtClean="0"/>
              <a:t>4/25/25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3211540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4C2A7E-18F2-3548-9318-AAB55E99CD63}" type="datetimeFigureOut">
              <a:rPr lang="en-US" smtClean="0"/>
              <a:t>4/25/25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3299888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4235212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30103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27633987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110090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22514414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12672703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C2A7E-18F2-3548-9318-AAB55E99CD63}" type="datetimeFigureOut">
              <a:rPr lang="en-US" smtClean="0"/>
              <a:t>4/25/25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022FD0-064A-4F46-B6D6-DAA9C28C975A}" type="slidenum">
              <a:rPr lang="en-US" smtClean="0"/>
              <a:t>‹#›</a:t>
            </a:fld>
            <a:endParaRPr lang="en-US"/>
          </a:p>
        </p:txBody>
      </p:sp>
    </p:spTree>
    <p:extLst>
      <p:ext uri="{BB962C8B-B14F-4D97-AF65-F5344CB8AC3E}">
        <p14:creationId xmlns:p14="http://schemas.microsoft.com/office/powerpoint/2010/main" val="994314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A4C2A7E-18F2-3548-9318-AAB55E99CD63}" type="datetimeFigureOut">
              <a:rPr lang="en-US" smtClean="0"/>
              <a:t>4/25/25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2022FD0-064A-4F46-B6D6-DAA9C28C975A}" type="slidenum">
              <a:rPr lang="en-US" smtClean="0"/>
              <a:t>‹#›</a:t>
            </a:fld>
            <a:endParaRPr lang="en-US"/>
          </a:p>
        </p:txBody>
      </p:sp>
    </p:spTree>
    <p:extLst>
      <p:ext uri="{BB962C8B-B14F-4D97-AF65-F5344CB8AC3E}">
        <p14:creationId xmlns:p14="http://schemas.microsoft.com/office/powerpoint/2010/main" val="31202989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Magnifying glass showing decling performance">
            <a:extLst>
              <a:ext uri="{FF2B5EF4-FFF2-40B4-BE49-F238E27FC236}">
                <a16:creationId xmlns:a16="http://schemas.microsoft.com/office/drawing/2014/main" id="{5349327E-843E-7714-DF03-A23C1306365F}"/>
              </a:ext>
            </a:extLst>
          </p:cNvPr>
          <p:cNvPicPr>
            <a:picLocks noChangeAspect="1"/>
          </p:cNvPicPr>
          <p:nvPr/>
        </p:nvPicPr>
        <p:blipFill>
          <a:blip r:embed="rId2"/>
          <a:srcRect l="2914" r="26989" b="9091"/>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1C3630CC-4484-5729-07F4-02E926385032}"/>
              </a:ext>
            </a:extLst>
          </p:cNvPr>
          <p:cNvSpPr>
            <a:spLocks noGrp="1"/>
          </p:cNvSpPr>
          <p:nvPr>
            <p:ph type="ctrTitle"/>
          </p:nvPr>
        </p:nvSpPr>
        <p:spPr>
          <a:xfrm>
            <a:off x="668867" y="1678666"/>
            <a:ext cx="4088190" cy="2369093"/>
          </a:xfrm>
        </p:spPr>
        <p:txBody>
          <a:bodyPr>
            <a:normAutofit/>
          </a:bodyPr>
          <a:lstStyle/>
          <a:p>
            <a:pPr>
              <a:lnSpc>
                <a:spcPct val="90000"/>
              </a:lnSpc>
            </a:pPr>
            <a:r>
              <a:rPr lang="en-US" sz="4100" dirty="0">
                <a:effectLst/>
                <a:latin typeface=".SF NS"/>
              </a:rPr>
              <a:t>An Analysis of Customer Bank Churn</a:t>
            </a:r>
            <a:br>
              <a:rPr lang="en-US" sz="4100" dirty="0">
                <a:effectLst/>
                <a:latin typeface=".SF NS"/>
              </a:rPr>
            </a:br>
            <a:endParaRPr lang="en-US" sz="4100" dirty="0"/>
          </a:p>
        </p:txBody>
      </p:sp>
      <p:sp>
        <p:nvSpPr>
          <p:cNvPr id="3" name="Subtitle 2">
            <a:extLst>
              <a:ext uri="{FF2B5EF4-FFF2-40B4-BE49-F238E27FC236}">
                <a16:creationId xmlns:a16="http://schemas.microsoft.com/office/drawing/2014/main" id="{1FD85EA2-3BC1-623A-A7DE-6723BD685547}"/>
              </a:ext>
            </a:extLst>
          </p:cNvPr>
          <p:cNvSpPr>
            <a:spLocks noGrp="1"/>
          </p:cNvSpPr>
          <p:nvPr>
            <p:ph type="subTitle" idx="1"/>
          </p:nvPr>
        </p:nvSpPr>
        <p:spPr>
          <a:xfrm>
            <a:off x="435429" y="4050831"/>
            <a:ext cx="4321628" cy="1096901"/>
          </a:xfrm>
        </p:spPr>
        <p:txBody>
          <a:bodyPr>
            <a:normAutofit/>
          </a:bodyPr>
          <a:lstStyle/>
          <a:p>
            <a:r>
              <a:rPr lang="en-US" sz="1600" dirty="0"/>
              <a:t>Machine Learning Capstone Project DTSC 691</a:t>
            </a:r>
          </a:p>
          <a:p>
            <a:r>
              <a:rPr lang="en-US" sz="1600" dirty="0"/>
              <a:t>By: John (Jake) Behler</a:t>
            </a:r>
          </a:p>
        </p:txBody>
      </p:sp>
    </p:spTree>
    <p:extLst>
      <p:ext uri="{BB962C8B-B14F-4D97-AF65-F5344CB8AC3E}">
        <p14:creationId xmlns:p14="http://schemas.microsoft.com/office/powerpoint/2010/main" val="336153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87C7D-9F5B-DFDA-1931-110A6B701601}"/>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EB17C634-54F7-1CC8-E61F-FF911EF78FFD}"/>
              </a:ext>
            </a:extLst>
          </p:cNvPr>
          <p:cNvSpPr>
            <a:spLocks noGrp="1"/>
          </p:cNvSpPr>
          <p:nvPr>
            <p:ph idx="1"/>
          </p:nvPr>
        </p:nvSpPr>
        <p:spPr/>
        <p:txBody>
          <a:bodyPr/>
          <a:lstStyle/>
          <a:p>
            <a:r>
              <a:rPr lang="en-US" dirty="0"/>
              <a:t>I looked at banking customer data to predict and analyze customer turnover. This can be important for incentivizing customers who are at risk of leaving to stay at the bank. Retaining customers is important for profit because it is costly to sign up new customers. I looked at prediction models and visualizations to better understand the data and give insightful information to the bank. </a:t>
            </a:r>
          </a:p>
        </p:txBody>
      </p:sp>
    </p:spTree>
    <p:extLst>
      <p:ext uri="{BB962C8B-B14F-4D97-AF65-F5344CB8AC3E}">
        <p14:creationId xmlns:p14="http://schemas.microsoft.com/office/powerpoint/2010/main" val="279035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B644C-A3A9-1A76-E555-F513E3837D24}"/>
              </a:ext>
            </a:extLst>
          </p:cNvPr>
          <p:cNvSpPr>
            <a:spLocks noGrp="1"/>
          </p:cNvSpPr>
          <p:nvPr>
            <p:ph type="title"/>
          </p:nvPr>
        </p:nvSpPr>
        <p:spPr/>
        <p:txBody>
          <a:bodyPr/>
          <a:lstStyle/>
          <a:p>
            <a:r>
              <a:rPr lang="en-US" dirty="0"/>
              <a:t>Steps</a:t>
            </a:r>
          </a:p>
        </p:txBody>
      </p:sp>
      <p:sp>
        <p:nvSpPr>
          <p:cNvPr id="3" name="Content Placeholder 2">
            <a:extLst>
              <a:ext uri="{FF2B5EF4-FFF2-40B4-BE49-F238E27FC236}">
                <a16:creationId xmlns:a16="http://schemas.microsoft.com/office/drawing/2014/main" id="{C7FE61BA-98E5-9C45-F66C-7DE1010C5996}"/>
              </a:ext>
            </a:extLst>
          </p:cNvPr>
          <p:cNvSpPr>
            <a:spLocks noGrp="1"/>
          </p:cNvSpPr>
          <p:nvPr>
            <p:ph idx="1"/>
          </p:nvPr>
        </p:nvSpPr>
        <p:spPr>
          <a:xfrm>
            <a:off x="677333" y="2160589"/>
            <a:ext cx="8727923" cy="3880773"/>
          </a:xfrm>
        </p:spPr>
        <p:txBody>
          <a:bodyPr/>
          <a:lstStyle/>
          <a:p>
            <a:r>
              <a:rPr lang="en-US" dirty="0"/>
              <a:t>Gather data from Kaggle</a:t>
            </a:r>
          </a:p>
          <a:p>
            <a:r>
              <a:rPr lang="en-US" dirty="0"/>
              <a:t>Data preparation, data cleaning, and data transformations</a:t>
            </a:r>
          </a:p>
          <a:p>
            <a:r>
              <a:rPr lang="en-US" dirty="0"/>
              <a:t>Machine Learning models to make predictions on data in Jupyter (Python)</a:t>
            </a:r>
          </a:p>
          <a:p>
            <a:r>
              <a:rPr lang="en-US" dirty="0"/>
              <a:t>Create visualizations in Tableau to analyze data for finding trends and patterns</a:t>
            </a:r>
          </a:p>
          <a:p>
            <a:r>
              <a:rPr lang="en-US" dirty="0"/>
              <a:t>Create a website and PowerPoint to present insight</a:t>
            </a:r>
          </a:p>
        </p:txBody>
      </p:sp>
    </p:spTree>
    <p:extLst>
      <p:ext uri="{BB962C8B-B14F-4D97-AF65-F5344CB8AC3E}">
        <p14:creationId xmlns:p14="http://schemas.microsoft.com/office/powerpoint/2010/main" val="695723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EF566-62F9-3D66-6593-E71F3B08D763}"/>
              </a:ext>
            </a:extLst>
          </p:cNvPr>
          <p:cNvSpPr>
            <a:spLocks noGrp="1"/>
          </p:cNvSpPr>
          <p:nvPr>
            <p:ph type="title"/>
          </p:nvPr>
        </p:nvSpPr>
        <p:spPr/>
        <p:txBody>
          <a:bodyPr/>
          <a:lstStyle/>
          <a:p>
            <a:r>
              <a:rPr lang="en-US" dirty="0"/>
              <a:t>Insight from Tableau</a:t>
            </a:r>
          </a:p>
        </p:txBody>
      </p:sp>
      <p:sp>
        <p:nvSpPr>
          <p:cNvPr id="3" name="Content Placeholder 2">
            <a:extLst>
              <a:ext uri="{FF2B5EF4-FFF2-40B4-BE49-F238E27FC236}">
                <a16:creationId xmlns:a16="http://schemas.microsoft.com/office/drawing/2014/main" id="{5DE9BC33-2765-FEC1-E210-339489E3D550}"/>
              </a:ext>
            </a:extLst>
          </p:cNvPr>
          <p:cNvSpPr>
            <a:spLocks noGrp="1"/>
          </p:cNvSpPr>
          <p:nvPr>
            <p:ph idx="1"/>
          </p:nvPr>
        </p:nvSpPr>
        <p:spPr>
          <a:xfrm>
            <a:off x="677334" y="2160589"/>
            <a:ext cx="9038166" cy="3880773"/>
          </a:xfrm>
        </p:spPr>
        <p:txBody>
          <a:bodyPr>
            <a:normAutofit fontScale="77500" lnSpcReduction="20000"/>
          </a:bodyPr>
          <a:lstStyle/>
          <a:p>
            <a:pPr algn="l">
              <a:buFont typeface="Arial" panose="020B0604020202020204" pitchFamily="34" charset="0"/>
              <a:buChar char="•"/>
            </a:pPr>
            <a:r>
              <a:rPr lang="en-US" b="0" i="0" u="none" strike="noStrike" dirty="0">
                <a:solidFill>
                  <a:srgbClr val="222222"/>
                </a:solidFill>
                <a:effectLst/>
                <a:latin typeface="Helvetica Neue" panose="02000503000000020004" pitchFamily="2" charset="0"/>
              </a:rPr>
              <a:t>Complain is highly correlated with churn rate (99.51%)</a:t>
            </a:r>
          </a:p>
          <a:p>
            <a:pPr>
              <a:buFont typeface="Arial" panose="020B0604020202020204" pitchFamily="34" charset="0"/>
              <a:buChar char="•"/>
            </a:pPr>
            <a:r>
              <a:rPr lang="en-US" b="0" i="0" u="none" strike="noStrike" dirty="0">
                <a:solidFill>
                  <a:srgbClr val="222222"/>
                </a:solidFill>
                <a:effectLst/>
                <a:latin typeface="Helvetica Neue" panose="02000503000000020004" pitchFamily="2" charset="0"/>
              </a:rPr>
              <a:t>Germany has double the turnover rate compared to Spain and France</a:t>
            </a:r>
          </a:p>
          <a:p>
            <a:pPr>
              <a:buFont typeface="Arial" panose="020B0604020202020204" pitchFamily="34" charset="0"/>
              <a:buChar char="•"/>
            </a:pPr>
            <a:r>
              <a:rPr lang="en-US" b="0" i="0" u="none" strike="noStrike" dirty="0">
                <a:solidFill>
                  <a:srgbClr val="222222"/>
                </a:solidFill>
                <a:effectLst/>
                <a:latin typeface="Helvetica Neue" panose="02000503000000020004" pitchFamily="2" charset="0"/>
              </a:rPr>
              <a:t>Inactive members have higher churn rate than active members in both males and females </a:t>
            </a:r>
          </a:p>
          <a:p>
            <a:pPr algn="l">
              <a:buFont typeface="Arial" panose="020B0604020202020204" pitchFamily="34" charset="0"/>
              <a:buChar char="•"/>
            </a:pPr>
            <a:r>
              <a:rPr lang="en-US" b="0" i="0" u="none" strike="noStrike" dirty="0">
                <a:solidFill>
                  <a:srgbClr val="222222"/>
                </a:solidFill>
                <a:effectLst/>
                <a:latin typeface="Helvetica Neue" panose="02000503000000020004" pitchFamily="2" charset="0"/>
              </a:rPr>
              <a:t>Churn rate is higher in females (a difference in about 9%)</a:t>
            </a:r>
          </a:p>
          <a:p>
            <a:pPr lvl="1"/>
            <a:r>
              <a:rPr lang="en-US" b="0" i="0" u="none" strike="noStrike" dirty="0">
                <a:solidFill>
                  <a:srgbClr val="222222"/>
                </a:solidFill>
                <a:effectLst/>
                <a:latin typeface="Helvetica Neue" panose="02000503000000020004" pitchFamily="2" charset="0"/>
              </a:rPr>
              <a:t>Males tend to stay slightly longer at the bank then females (0.1 years ~ a month)</a:t>
            </a:r>
          </a:p>
          <a:p>
            <a:pPr>
              <a:buFont typeface="Arial" panose="020B0604020202020204" pitchFamily="34" charset="0"/>
              <a:buChar char="•"/>
            </a:pPr>
            <a:r>
              <a:rPr lang="en-US" b="0" i="0" u="none" strike="noStrike" dirty="0">
                <a:solidFill>
                  <a:srgbClr val="222222"/>
                </a:solidFill>
                <a:effectLst/>
                <a:latin typeface="Helvetica Neue" panose="02000503000000020004" pitchFamily="2" charset="0"/>
              </a:rPr>
              <a:t>Customers who had 3 or 4 products have very high churn rate (82% and 100% respectively) compared to customers who only had 1 or 2 products (27.71% and 7.6%)</a:t>
            </a:r>
            <a:endParaRPr lang="en-US" dirty="0">
              <a:solidFill>
                <a:srgbClr val="222222"/>
              </a:solidFill>
              <a:latin typeface="Helvetica Neue" panose="02000503000000020004" pitchFamily="2" charset="0"/>
            </a:endParaRPr>
          </a:p>
          <a:p>
            <a:pPr>
              <a:buFont typeface="Arial" panose="020B0604020202020204" pitchFamily="34" charset="0"/>
              <a:buChar char="•"/>
            </a:pPr>
            <a:r>
              <a:rPr lang="en-US" b="0" i="0" u="none" strike="noStrike" dirty="0">
                <a:solidFill>
                  <a:srgbClr val="222222"/>
                </a:solidFill>
                <a:effectLst/>
                <a:latin typeface="Helvetica Neue" panose="02000503000000020004" pitchFamily="2" charset="0"/>
              </a:rPr>
              <a:t>Credit Score didn’t have a big impact on customer churn rate</a:t>
            </a:r>
          </a:p>
          <a:p>
            <a:pPr lvl="1">
              <a:buFont typeface="Arial" panose="020B0604020202020204" pitchFamily="34" charset="0"/>
              <a:buChar char="•"/>
            </a:pPr>
            <a:r>
              <a:rPr lang="en-US" b="0" i="0" u="none" strike="noStrike" dirty="0">
                <a:solidFill>
                  <a:srgbClr val="222222"/>
                </a:solidFill>
                <a:effectLst/>
                <a:latin typeface="Helvetica Neue" panose="02000503000000020004" pitchFamily="2" charset="0"/>
              </a:rPr>
              <a:t>Except churn rate increased significantly for client who had credit score under 395</a:t>
            </a:r>
          </a:p>
          <a:p>
            <a:pPr>
              <a:buFont typeface="Arial" panose="020B0604020202020204" pitchFamily="34" charset="0"/>
              <a:buChar char="•"/>
            </a:pPr>
            <a:r>
              <a:rPr lang="en-US" b="0" i="0" u="none" strike="noStrike" dirty="0">
                <a:solidFill>
                  <a:srgbClr val="222222"/>
                </a:solidFill>
                <a:effectLst/>
                <a:latin typeface="Helvetica Neue" panose="02000503000000020004" pitchFamily="2" charset="0"/>
              </a:rPr>
              <a:t>45-65 years old is where the highest turnover rate comes from</a:t>
            </a:r>
          </a:p>
          <a:p>
            <a:pPr>
              <a:buFont typeface="Arial" panose="020B0604020202020204" pitchFamily="34" charset="0"/>
              <a:buChar char="•"/>
            </a:pPr>
            <a:r>
              <a:rPr lang="en-US" b="0" i="0" u="none" strike="noStrike" dirty="0">
                <a:solidFill>
                  <a:srgbClr val="222222"/>
                </a:solidFill>
                <a:effectLst/>
                <a:latin typeface="Helvetica Neue" panose="02000503000000020004" pitchFamily="2" charset="0"/>
              </a:rPr>
              <a:t>Slight decrease in correlation in churn rate as satisfaction rates increase (besides France which is opposite)</a:t>
            </a:r>
          </a:p>
          <a:p>
            <a:pPr>
              <a:buNone/>
            </a:pPr>
            <a:br>
              <a:rPr lang="en-US" dirty="0"/>
            </a:br>
            <a:endParaRPr lang="en-US" dirty="0"/>
          </a:p>
        </p:txBody>
      </p:sp>
    </p:spTree>
    <p:extLst>
      <p:ext uri="{BB962C8B-B14F-4D97-AF65-F5344CB8AC3E}">
        <p14:creationId xmlns:p14="http://schemas.microsoft.com/office/powerpoint/2010/main" val="1858273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178A4-63FB-4419-1C3B-62506DFBE8FC}"/>
              </a:ext>
            </a:extLst>
          </p:cNvPr>
          <p:cNvSpPr>
            <a:spLocks noGrp="1"/>
          </p:cNvSpPr>
          <p:nvPr>
            <p:ph type="title"/>
          </p:nvPr>
        </p:nvSpPr>
        <p:spPr/>
        <p:txBody>
          <a:bodyPr/>
          <a:lstStyle/>
          <a:p>
            <a:r>
              <a:rPr lang="en-US" dirty="0"/>
              <a:t>Takeaway</a:t>
            </a:r>
          </a:p>
        </p:txBody>
      </p:sp>
      <p:sp>
        <p:nvSpPr>
          <p:cNvPr id="3" name="Content Placeholder 2">
            <a:extLst>
              <a:ext uri="{FF2B5EF4-FFF2-40B4-BE49-F238E27FC236}">
                <a16:creationId xmlns:a16="http://schemas.microsoft.com/office/drawing/2014/main" id="{8EA0202D-F2FF-0AB4-FC35-817C82CC9429}"/>
              </a:ext>
            </a:extLst>
          </p:cNvPr>
          <p:cNvSpPr>
            <a:spLocks noGrp="1"/>
          </p:cNvSpPr>
          <p:nvPr>
            <p:ph idx="1"/>
          </p:nvPr>
        </p:nvSpPr>
        <p:spPr/>
        <p:txBody>
          <a:bodyPr/>
          <a:lstStyle/>
          <a:p>
            <a:r>
              <a:rPr lang="en-US" dirty="0"/>
              <a:t>If our complain variable is known to us before the customer leaves, this is critical and valuable information. This can be predictable to know that a customer will likely leave the bank. However, if this is only recorded at the time of exit, then this will not lead to impactful decisions. </a:t>
            </a:r>
          </a:p>
          <a:p>
            <a:r>
              <a:rPr lang="en-US" dirty="0"/>
              <a:t>We have learned about which types of groups have a higher churn rate which is important information </a:t>
            </a:r>
          </a:p>
          <a:p>
            <a:pPr lvl="1"/>
            <a:r>
              <a:rPr lang="en-US" dirty="0"/>
              <a:t>Complaining, being in Germany, being an inactive member, being a female, having 3 or 4 products, having a credit score under 395, being between the ages 45-65, and having a low satisfaction score all increase the risk of churn</a:t>
            </a:r>
          </a:p>
        </p:txBody>
      </p:sp>
    </p:spTree>
    <p:extLst>
      <p:ext uri="{BB962C8B-B14F-4D97-AF65-F5344CB8AC3E}">
        <p14:creationId xmlns:p14="http://schemas.microsoft.com/office/powerpoint/2010/main" val="786463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DEA17-CE77-F104-4014-7C9C04FF6917}"/>
              </a:ext>
            </a:extLst>
          </p:cNvPr>
          <p:cNvSpPr>
            <a:spLocks noGrp="1"/>
          </p:cNvSpPr>
          <p:nvPr>
            <p:ph type="title"/>
          </p:nvPr>
        </p:nvSpPr>
        <p:spPr/>
        <p:txBody>
          <a:bodyPr/>
          <a:lstStyle/>
          <a:p>
            <a:r>
              <a:rPr lang="en-US" dirty="0"/>
              <a:t>Challenges &amp; Reflection</a:t>
            </a:r>
          </a:p>
        </p:txBody>
      </p:sp>
      <p:sp>
        <p:nvSpPr>
          <p:cNvPr id="3" name="Content Placeholder 2">
            <a:extLst>
              <a:ext uri="{FF2B5EF4-FFF2-40B4-BE49-F238E27FC236}">
                <a16:creationId xmlns:a16="http://schemas.microsoft.com/office/drawing/2014/main" id="{2B9CAE76-25C6-09AF-BFF8-431704C2D39D}"/>
              </a:ext>
            </a:extLst>
          </p:cNvPr>
          <p:cNvSpPr>
            <a:spLocks noGrp="1"/>
          </p:cNvSpPr>
          <p:nvPr>
            <p:ph idx="1"/>
          </p:nvPr>
        </p:nvSpPr>
        <p:spPr/>
        <p:txBody>
          <a:bodyPr/>
          <a:lstStyle/>
          <a:p>
            <a:r>
              <a:rPr lang="en-US" dirty="0"/>
              <a:t>From the beginning, I could have looked at creating new features to possibly add to my model</a:t>
            </a:r>
          </a:p>
          <a:p>
            <a:pPr lvl="1"/>
            <a:r>
              <a:rPr lang="en-US" dirty="0"/>
              <a:t>I tried different methods such as binning variables, however, I only briefly looked at polynomials and interaction terms between variables</a:t>
            </a:r>
          </a:p>
          <a:p>
            <a:r>
              <a:rPr lang="en-US" dirty="0"/>
              <a:t>Poor model performances with Tenure as my response variable</a:t>
            </a:r>
          </a:p>
          <a:p>
            <a:pPr lvl="1"/>
            <a:r>
              <a:rPr lang="en-US" dirty="0"/>
              <a:t>I had difficulty finding linear and non-linear relationships with this response variable and choosing the appropriate models </a:t>
            </a:r>
          </a:p>
          <a:p>
            <a:r>
              <a:rPr lang="en-US" dirty="0"/>
              <a:t>Grid Search and parameters</a:t>
            </a:r>
          </a:p>
          <a:p>
            <a:pPr lvl="1"/>
            <a:r>
              <a:rPr lang="en-US" dirty="0"/>
              <a:t>I did do a grid search of my gradient boosting model, but I could have looked more into changing the parameters and a grid search for random forest model</a:t>
            </a:r>
          </a:p>
        </p:txBody>
      </p:sp>
    </p:spTree>
    <p:extLst>
      <p:ext uri="{BB962C8B-B14F-4D97-AF65-F5344CB8AC3E}">
        <p14:creationId xmlns:p14="http://schemas.microsoft.com/office/powerpoint/2010/main" val="295310258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435</TotalTime>
  <Words>519</Words>
  <Application>Microsoft Macintosh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.SF NS</vt:lpstr>
      <vt:lpstr>Arial</vt:lpstr>
      <vt:lpstr>Helvetica Neue</vt:lpstr>
      <vt:lpstr>Trebuchet MS</vt:lpstr>
      <vt:lpstr>Wingdings 3</vt:lpstr>
      <vt:lpstr>Facet</vt:lpstr>
      <vt:lpstr>An Analysis of Customer Bank Churn </vt:lpstr>
      <vt:lpstr>Background</vt:lpstr>
      <vt:lpstr>Steps</vt:lpstr>
      <vt:lpstr>Insight from Tableau</vt:lpstr>
      <vt:lpstr>Takeaway</vt:lpstr>
      <vt:lpstr>Challenges &amp; 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Behler</dc:creator>
  <cp:lastModifiedBy>John Behler</cp:lastModifiedBy>
  <cp:revision>2</cp:revision>
  <dcterms:created xsi:type="dcterms:W3CDTF">2025-04-25T14:04:45Z</dcterms:created>
  <dcterms:modified xsi:type="dcterms:W3CDTF">2025-04-25T21:19:59Z</dcterms:modified>
</cp:coreProperties>
</file>